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Logistic
Regression</c:v>
                  </c:pt>
                  <c:pt idx="2">
                    <c:v>Keras NN</c:v>
                  </c:pt>
                  <c:pt idx="3">
                    <c:v>Random
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0.648</c:v>
                </c:pt>
                <c:pt idx="2">
                  <c:v>0.852</c:v>
                </c:pt>
                <c:pt idx="3">
                  <c:v>0.796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Logistic
Regression</c:v>
                  </c:pt>
                  <c:pt idx="2">
                    <c:v>Keras NN</c:v>
                  </c:pt>
                  <c:pt idx="3">
                    <c:v>Random
Forest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0.835</c:v>
                </c:pt>
                <c:pt idx="2">
                  <c:v>0.88</c:v>
                </c:pt>
                <c:pt idx="3">
                  <c:v>0.941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Baseline</c:v>
                  </c:pt>
                  <c:pt idx="1">
                    <c:v>Logistic
Regression</c:v>
                  </c:pt>
                  <c:pt idx="2">
                    <c:v>Keras NN</c:v>
                  </c:pt>
                  <c:pt idx="3">
                    <c:v>Random
Forest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0.636</c:v>
                </c:pt>
                <c:pt idx="2">
                  <c:v>0.648</c:v>
                </c:pt>
                <c:pt idx="3">
                  <c:v>0.811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Default
(0.5)</c:v>
                  </c:pt>
                  <c:pt idx="1">
                    <c:v>Tuned
(0.412)</c:v>
                  </c:pt>
                  <c:pt idx="2">
                    <c:v>Keras NN
(reference)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0.796</c:v>
                </c:pt>
                <c:pt idx="1">
                  <c:v>0.852</c:v>
                </c:pt>
                <c:pt idx="2">
                  <c:v>0.852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Default
(0.5)</c:v>
                  </c:pt>
                  <c:pt idx="1">
                    <c:v>Tuned
(0.412)</c:v>
                  </c:pt>
                  <c:pt idx="2">
                    <c:v>Keras NN
(reference)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0.811</c:v>
                </c:pt>
                <c:pt idx="1">
                  <c:v>0.793</c:v>
                </c:pt>
                <c:pt idx="2">
                  <c:v>0.648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EB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B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743200" cy="27432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INTERNSHIP PROGRAM  ·  CAPSTONE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Risk Prediction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screening tool that flags diabetes risk from routine diagnostic measurements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109728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Muhammad Ali Bokhari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66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  ·  Final Presentation &amp; Demo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is routinely under-flagged in low-resource screening settings, where full diagnostic testing isn't always immediately available.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supervised ML model that predicts diabetes risk from 8 routine diagnostic measurements, and surfaces the key risk factors behind each prediction — a low-cost, early screening signal, not a diagnosis.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55448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F5F9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1691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315468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F5F9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3291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475488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F5F9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4892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5715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in dataset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6492240" cy="1691640"/>
          </a:xfrm>
          <a:prstGeom prst="roundRect">
            <a:avLst>
              <a:gd name="adj" fmla="val 5405"/>
            </a:avLst>
          </a:prstGeom>
          <a:solidFill>
            <a:srgbClr val="0B2E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463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— telling a diabetic patient they're low-risk — is the costlier error in a screening context. That single idea shapes every modeling decision in this project.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Pima Indians Diabetes Dataset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6675120" cy="448056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times pregnant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Plasma glucose concentration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Diastolic blood pressure (mm Hg)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SkinThickness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Triceps skin fold thickness (mm)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2-hour serum insulin (mu U/ml)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mass index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DiabetesPedigreeFunction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likelihood from family 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in years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08760"/>
            <a:ext cx="4297680" cy="2103120"/>
          </a:xfrm>
          <a:prstGeom prst="roundRect">
            <a:avLst>
              <a:gd name="adj" fmla="val 4348"/>
            </a:avLst>
          </a:prstGeom>
          <a:solidFill>
            <a:srgbClr val="0B2E3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809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1 = diabetic, 0 = non-diabetic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/ 35% class split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mild imbalance, recall-focused metrics</a:t>
            </a:r>
            <a:endParaRPr lang="en-US" sz="1200" dirty="0"/>
          </a:p>
        </p:txBody>
      </p:sp>
      <p:pic>
        <p:nvPicPr>
          <p:cNvPr id="11" name="Image 0" descr="/home/claude/build/figures/01_class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794760"/>
            <a:ext cx="4297680" cy="21945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 is the clearest signal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 show a visibly higher glucose median and interquartile range — consistent with glucose being the primary clinical marker for diagnosis.</a:t>
            </a:r>
            <a:endParaRPr lang="en-US" sz="1500" dirty="0"/>
          </a:p>
        </p:txBody>
      </p:sp>
      <p:pic>
        <p:nvPicPr>
          <p:cNvPr id="5" name="Image 0" descr="/home/claude/build/figures/05_glucose_vs_out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23160"/>
            <a:ext cx="4572000" cy="3429000"/>
          </a:xfrm>
          <a:prstGeom prst="rect">
            <a:avLst/>
          </a:prstGeom>
        </p:spPr>
      </p:pic>
      <p:pic>
        <p:nvPicPr>
          <p:cNvPr id="6" name="Image 1" descr="/home/claude/build/figures/04_correlation_with_outc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17320"/>
            <a:ext cx="6309360" cy="5074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hidden data quality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features contained biologically-impossible zeros — used as an implicit "not recorded" marker instead of an explicit missing value. Standard null checks never caught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60350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0E8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5394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zeros to explicit NaN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using the median, grouped by Outcome — not a single global median
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the real distributional difference between diabetic and non-diabetic patients</a:t>
            </a:r>
            <a:endParaRPr lang="en-US" sz="1500" dirty="0"/>
          </a:p>
        </p:txBody>
      </p:sp>
      <p:pic>
        <p:nvPicPr>
          <p:cNvPr id="8" name="Image 0" descr="/home/claude/build/figures/02_zero_value_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17320"/>
            <a:ext cx="4937760" cy="3063240"/>
          </a:xfrm>
          <a:prstGeom prst="rect">
            <a:avLst/>
          </a:prstGeom>
        </p:spPr>
      </p:pic>
      <p:pic>
        <p:nvPicPr>
          <p:cNvPr id="9" name="Image 1" descr="/home/claude/build/figures/03_before_after_clea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572000"/>
            <a:ext cx="4937760" cy="1737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clinically-grounded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9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BMI_Category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BMI bands (Underweight / Normal / Overweight / Obese)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Age_Group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bands reflecting the risk rise after ~45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600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9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 × BMI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 for compounding risk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16002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5F9F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7260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B2E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Insulin / Glucose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proxy for insulin resistance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1206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interaction/ratio terms ranked among the strongest correlates with the target — real signal, not noise.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819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2677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286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535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971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6393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3657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897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3251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Neural Net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EarlyStopping + class weighting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86800" y="169164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0" y="233172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diabetic class first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tiebreaker
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raw accuracy — a missed diagnosis is costlier than a false alarm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leads on every axis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78638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508760"/>
            <a:ext cx="3154680" cy="4663440"/>
          </a:xfrm>
          <a:prstGeom prst="roundRect">
            <a:avLst>
              <a:gd name="adj" fmla="val 2899"/>
            </a:avLst>
          </a:prstGeom>
          <a:solidFill>
            <a:srgbClr val="F5F9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239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(LAB 1)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&gt; 0.80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0.941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test set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823960" y="4526280"/>
            <a:ext cx="2651760" cy="0"/>
          </a:xfrm>
          <a:prstGeom prst="line">
            <a:avLst/>
          </a:prstGeom>
          <a:noFill/>
          <a:ln w="12700">
            <a:solidFill>
              <a:srgbClr val="D9E4E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23960" y="47091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baseline by 88% ROC-AUC and catches ~4 in 5 diabetic cases at default threshold.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vs. the neural net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Keras network edges out Random Forest on raw recall — but only by trading away ROC-AUC and precision. Not a good trade for a screening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5F9F9"/>
          </a:solidFill>
          <a:ln w="12700">
            <a:solidFill>
              <a:srgbClr val="E0E8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 Neural Net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+ EarlyStopping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0.880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0B2E33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233172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8408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92124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21240" y="3886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0.941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526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92124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0.811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35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Forest: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6-point ROC-AUC gap is a real difference in discriminative power, and 16 points of precision means far fewer false alarms — for only a 5.6-point recall trade-off that threshold tuning fully recovers (next slide).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REFINEMENT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 closes the gap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decision threshold from 0.5 to 0.412 lets Random Forest match the neural network's recall — without giving up its precision advantage.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51460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Image 0" descr="/home/claude/build/figures/07_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17320"/>
            <a:ext cx="4846320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result stable?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0B2E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95% CI  ·  500 RESAMPLES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[0.901, 0.972]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interval around the 0.941 ROC-AUC point estimate — the result is stable, not a lucky split.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5F9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14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performance across age bands was checked, but the 154-row test set makes group-level numbers directional, not conclusive — flagged in the report rather than glossed over.</a:t>
            </a:r>
            <a:endParaRPr lang="en-US" sz="1350" dirty="0"/>
          </a:p>
        </p:txBody>
      </p:sp>
      <p:pic>
        <p:nvPicPr>
          <p:cNvPr id="11" name="Image 0" descr="/home/claude/build/figures/10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17320"/>
            <a:ext cx="5760720" cy="45720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screening aid, not a diagnosis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(tuned)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(tuned)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1247120" cy="0"/>
          </a:xfrm>
          <a:prstGeom prst="line">
            <a:avLst/>
          </a:prstGeom>
          <a:noFill/>
          <a:ln w="12700">
            <a:solidFill>
              <a:srgbClr val="1C4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776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Insulin's feature importance against non-imputed data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the age-subgroup check on a larger sample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LLM layer for plain-language risk explanations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5532120"/>
            <a:ext cx="11247120" cy="0"/>
          </a:xfrm>
          <a:prstGeom prst="line">
            <a:avLst/>
          </a:prstGeom>
          <a:noFill/>
          <a:ln w="12700">
            <a:solidFill>
              <a:srgbClr val="1C4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Muhammad Ali Bokhari  ·  github.com/[repo-link]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2026-09-17T01:49:39Z</dcterms:created>
  <dcterms:modified xsi:type="dcterms:W3CDTF">2026-09-17T01:49:39Z</dcterms:modified>
</cp:coreProperties>
</file>